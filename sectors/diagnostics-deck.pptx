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77B4"/>
                </a:solidFill>
                <a:latin typeface="Calibri"/>
              </a:rPr>
              <a:t>HEALTHCARE DIAGNOSTICS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Sector Primer &amp; Ideas Shortlist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3434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F2F5F8"/>
                </a:solidFill>
                <a:latin typeface="Calibri"/>
              </a:rPr>
              <a:t>Reimbursed, recurring molecular testing is re-rating around two TAMs - asymptomatic screening and MRD - while large-cap medtech sets the take-out floor at ~6-7x sales.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9FB3C8"/>
                </a:solidFill>
                <a:latin typeface="Calibri"/>
              </a:rPr>
              <a:t>BofA HC coverage prep   ·   2026-06-14   ·   7-name profiled universe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77B4"/>
                </a:solidFill>
                <a:latin typeface="Calibri"/>
              </a:rPr>
              <a:t>EXECUTIVE SUMMARY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The valuation question is the whole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 i="0">
                <a:solidFill>
                  <a:srgbClr val="0F2A43"/>
                </a:solidFill>
                <a:latin typeface="Calibri"/>
              </a:rPr>
              <a:t>▪  Same income statement (high-growth, often pre-profit, reimbursement-dependent) earns 1.6x to ~18x sales - depending entirely on which TAM story the market believes.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0F2A43"/>
                </a:solidFill>
                <a:latin typeface="Calibri"/>
              </a:rPr>
              <a:t>▪  Take-out anchor (~6-7x sales): Abbott bought Exact Sciences for ~$21B / $105/sh (closed 2026-03-23) at ~6.5x rev / ~52x adj. EBITDA - the price for profitable, recurring scale.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0F2A43"/>
                </a:solidFill>
                <a:latin typeface="Calibri"/>
              </a:rPr>
              <a:t>▪  Optionality premium (double-digit sales): Guardant (~18x) and Natera (~13x) trade on screening and MRD TAM, not current cash flow.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1F77B4"/>
                </a:solidFill>
                <a:latin typeface="Calibri"/>
              </a:rPr>
              <a:t>▪  Place any name between those two poles and you have the fluent read.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0F2A43"/>
                </a:solidFill>
                <a:latin typeface="Calibri"/>
              </a:rPr>
              <a:t>▪  Profiled universe: ~$9.3B FY2025 revenue · ~$79.9B market cap · ~+30% rev-weighted growth · ~8.6x aggregate P/S (as of 2026-06-13; EXAS pinned at deal price).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B03030"/>
                </a:solidFill>
                <a:latin typeface="Calibri"/>
              </a:rPr>
              <a:t>▪  Recurring tell to watch: reimbursement + guideline news, NOT assay novelty.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555F6B"/>
                </a:solidFill>
                <a:latin typeface="Calibri"/>
              </a:rPr>
              <a:t>Diagnostics sector primer  |  BofA HC coverage prep  |  2026-06-14  |  Not investment advice  |  Sources: comps/diagnostics.csv, /companies/, /deals/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77B4"/>
                </a:solidFill>
                <a:latin typeface="Calibri"/>
              </a:rPr>
              <a:t>INDUSTRY OVERVIEW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How the money is made, and why growth is barbelled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</a:rPr>
              <a:t>▪  Economics = volume x ASP. Moat = reimbursement coverage (a covered rate) + guideline inclusion (drives volume) + menu/scale (fixed-cost lab leverage). GM ~38% to ~74%.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▪  Growth is barbelled, not uniform: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0F2A43"/>
                </a:solidFill>
                <a:latin typeface="Calibri"/>
              </a:rPr>
              <a:t>   –  Fast cohort: TEM +83% (Ambry-inflated; ~30% organic), WGS ~+40%, NTRA +36%, GH +31%.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0F2A43"/>
                </a:solidFill>
                <a:latin typeface="Calibri"/>
              </a:rPr>
              <a:t>   –  Slow cohort: EXAS +18% (scaled, profitable), FLGT +14%, NEO +10%.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▪  Four functional layers: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0F2A43"/>
                </a:solidFill>
                <a:latin typeface="Calibri"/>
              </a:rPr>
              <a:t>   –  Screening (asymptomatic) - largest TAM, richest multiples (EXAS, GH/Shield).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0F2A43"/>
                </a:solidFill>
                <a:latin typeface="Calibri"/>
              </a:rPr>
              <a:t>   –  Liquid biopsy / therapy selection - the commercial core (Guardant360, Tempus, Natera).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0F2A43"/>
                </a:solidFill>
                <a:latin typeface="Calibri"/>
              </a:rPr>
              <a:t>   –  MRD / recurrence - highest-conviction growth after screening (Signatera, Reveal).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0F2A43"/>
                </a:solidFill>
                <a:latin typeface="Calibri"/>
              </a:rPr>
              <a:t>   –  Genomic &amp; legacy lab - turnaround re-rate (WGS) to show-me value (NEO, FLGT).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555F6B"/>
                </a:solidFill>
                <a:latin typeface="Calibri"/>
              </a:rPr>
              <a:t>Diagnostics sector primer  |  BofA HC coverage prep  |  2026-06-14  |  Not investment advice  |  Sources: comps/diagnostics.csv, /companies/, /deals/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77B4"/>
                </a:solidFill>
                <a:latin typeface="Calibri"/>
              </a:rPr>
              <a:t>COMPETITIVE LANDSCAPE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Fought per battleground (use case + payor)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7680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834640"/>
                <a:gridCol w="2194560"/>
              </a:tblGrid>
              <a:tr h="47026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Battleground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Leader(s)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Challenger(s)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F2A43"/>
                          </a:solidFill>
                          <a:latin typeface="Calibri"/>
                        </a:rPr>
                        <a:t>CRC screening - stool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F2A43"/>
                          </a:solidFill>
                          <a:latin typeface="Calibri"/>
                        </a:rPr>
                        <a:t>Exact / Cologuard (Abbott)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F2A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F2A43"/>
                          </a:solidFill>
                          <a:latin typeface="Calibri"/>
                        </a:rPr>
                        <a:t>CRC screening - blood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F2A43"/>
                          </a:solidFill>
                          <a:latin typeface="Calibri"/>
                        </a:rPr>
                        <a:t>Guardant / Shield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F2A43"/>
                          </a:solidFill>
                          <a:latin typeface="Calibri"/>
                        </a:rPr>
                        <a:t>Exact (Cancerguard), Grail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F2A43"/>
                          </a:solidFill>
                          <a:latin typeface="Calibri"/>
                        </a:rPr>
                        <a:t>Liquid biopsy - therapy sel.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F2A43"/>
                          </a:solidFill>
                          <a:latin typeface="Calibri"/>
                        </a:rPr>
                        <a:t>Guardant360, Foundation (Roche)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F2A43"/>
                          </a:solidFill>
                          <a:latin typeface="Calibri"/>
                        </a:rPr>
                        <a:t>Tempus, Natera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F2A43"/>
                          </a:solidFill>
                          <a:latin typeface="Calibri"/>
                        </a:rPr>
                        <a:t>MRD / recurrence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F2A43"/>
                          </a:solidFill>
                          <a:latin typeface="Calibri"/>
                        </a:rPr>
                        <a:t>Natera / Signatera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F2A43"/>
                          </a:solidFill>
                          <a:latin typeface="Calibri"/>
                        </a:rPr>
                        <a:t>Guardant Reveal, Tempus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F2A43"/>
                          </a:solidFill>
                          <a:latin typeface="Calibri"/>
                        </a:rPr>
                        <a:t>Hereditary / exome-genome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F2A43"/>
                          </a:solidFill>
                          <a:latin typeface="Calibri"/>
                        </a:rPr>
                        <a:t>GeneDx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F2A43"/>
                          </a:solidFill>
                          <a:latin typeface="Calibri"/>
                        </a:rPr>
                        <a:t>Natera, labs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F2A43"/>
                          </a:solidFill>
                          <a:latin typeface="Calibri"/>
                        </a:rPr>
                        <a:t>Broad / legacy molecular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F2A43"/>
                          </a:solidFill>
                          <a:latin typeface="Calibri"/>
                        </a:rPr>
                        <a:t>NeoGenomics, Fulgent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F2A43"/>
                          </a:solidFill>
                          <a:latin typeface="Calibri"/>
                        </a:rPr>
                        <a:t>Quest / Labcorp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66760" y="13716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 i="0">
                <a:solidFill>
                  <a:srgbClr val="0F2A43"/>
                </a:solidFill>
                <a:latin typeface="Calibri"/>
              </a:rPr>
              <a:t>▪  Headline fight: blood-vs-stool CRC screening - Shield (GH) vs. Cologuard (Abbott); now a startup-vs-large-cap distribution mismatch.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0F2A43"/>
                </a:solidFill>
                <a:latin typeface="Calibri"/>
              </a:rPr>
              <a:t>▪  MRD is the cleanest secular winner after screening.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0F2A43"/>
                </a:solidFill>
                <a:latin typeface="Calibri"/>
              </a:rPr>
              <a:t>▪  Legacy tier is commoditizing toward reference-lab economics - more likely consolidated than re-rated.</a:t>
            </a:r>
          </a:p>
          <a:p>
            <a:pPr>
              <a:spcAft>
                <a:spcPts val="1200"/>
              </a:spcAft>
            </a:pPr>
            <a:r>
              <a:rPr sz="1200" b="0" i="0">
                <a:solidFill>
                  <a:srgbClr val="1F77B4"/>
                </a:solidFill>
                <a:latin typeface="Calibri"/>
              </a:rPr>
              <a:t>▪  Bounding players (not profiled): Roche/Foundation, Grail, Quest/Labcorp, Abbott.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555F6B"/>
                </a:solidFill>
                <a:latin typeface="Calibri"/>
              </a:rPr>
              <a:t>Diagnostics sector primer  |  BofA HC coverage prep  |  2026-06-14  |  Not investment advice  |  Sources: comps/diagnostics.csv, /companies/, /deals/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77B4"/>
                </a:solidFill>
                <a:latin typeface="Calibri"/>
              </a:rPr>
              <a:t>PEER COMPS SPREAD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P/S = mkt cap / FY2025 rev (EV/Sales proxy)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22960"/>
                <a:gridCol w="1188720"/>
                <a:gridCol w="1371600"/>
                <a:gridCol w="1188720"/>
                <a:gridCol w="1005840"/>
                <a:gridCol w="914400"/>
                <a:gridCol w="914400"/>
                <a:gridCol w="1371600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Tkr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Mkt Cap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FY25 Rev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Grw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GM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P/S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26E P/S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2A43"/>
                          </a:solidFill>
                          <a:latin typeface="Calibri"/>
                        </a:rPr>
                        <a:t>Natera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NTRA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$212.07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~$30.4B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$2.31B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+36%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~65%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77B4"/>
                          </a:solidFill>
                          <a:latin typeface="Calibri"/>
                        </a:rPr>
                        <a:t>13.2x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2A43"/>
                          </a:solidFill>
                          <a:latin typeface="Calibri"/>
                        </a:rPr>
                        <a:t>Exact Sciences*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EXAS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$104.91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~$20.0B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$3.25B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+18%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77B4"/>
                          </a:solidFill>
                          <a:latin typeface="Calibri"/>
                        </a:rPr>
                        <a:t>6.2x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2A43"/>
                          </a:solidFill>
                          <a:latin typeface="Calibri"/>
                        </a:rPr>
                        <a:t>Guardant Health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GH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$131.62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~$17.45B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~$0.97B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+31%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~65%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77B4"/>
                          </a:solidFill>
                          <a:latin typeface="Calibri"/>
                        </a:rPr>
                        <a:t>17.9x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13.3x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2A43"/>
                          </a:solidFill>
                          <a:latin typeface="Calibri"/>
                        </a:rPr>
                        <a:t>Tempus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$47.82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~$8.35B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$1.27B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+83%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77B4"/>
                          </a:solidFill>
                          <a:latin typeface="Calibri"/>
                        </a:rPr>
                        <a:t>6.6x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5.3x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2A43"/>
                          </a:solidFill>
                          <a:latin typeface="Calibri"/>
                        </a:rPr>
                        <a:t>GeneDx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WGS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$59.92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~$1.78B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~$0.43B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~+40%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~74%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77B4"/>
                          </a:solidFill>
                          <a:latin typeface="Calibri"/>
                        </a:rPr>
                        <a:t>4.2x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2A43"/>
                          </a:solidFill>
                          <a:latin typeface="Calibri"/>
                        </a:rPr>
                        <a:t>NeoGenomics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NEO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$11.15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~$1.43B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$0.73B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+10%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77B4"/>
                          </a:solidFill>
                          <a:latin typeface="Calibri"/>
                        </a:rPr>
                        <a:t>2.0x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1.8x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2A43"/>
                          </a:solidFill>
                          <a:latin typeface="Calibri"/>
                        </a:rPr>
                        <a:t>Fulgent Genetics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FLGT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$18.68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~$0.53B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$0.32B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+14%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~38%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F77B4"/>
                          </a:solidFill>
                          <a:latin typeface="Calibri"/>
                        </a:rPr>
                        <a:t>1.6x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F2A43"/>
                          </a:solidFill>
                          <a:latin typeface="Calibri"/>
                        </a:rPr>
                        <a:t>1.5x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70916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 i="0">
                <a:solidFill>
                  <a:srgbClr val="0F2A43"/>
                </a:solidFill>
                <a:latin typeface="Calibri"/>
              </a:rPr>
              <a:t>▪  * EXAS no longer freely traded (Abbott take-out) - P/S is the take-out benchmark. Summary P/S: median ~6.2x, mean ~7.4x, range 1.6x-17.9x.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B03030"/>
                </a:solidFill>
                <a:latin typeface="Calibri"/>
              </a:rPr>
              <a:t>▪  Watch FLGT: net cash exceeds market cap, so true EV/Sales is ~0 - 1.6x is NOT expensive.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555F6B"/>
                </a:solidFill>
                <a:latin typeface="Calibri"/>
              </a:rPr>
              <a:t>Diagnostics sector primer  |  BofA HC coverage prep  |  2026-06-14  |  Not investment advice  |  Sources: comps/diagnostics.csv, /companies/, /deals/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77B4"/>
                </a:solidFill>
                <a:latin typeface="Calibri"/>
              </a:rPr>
              <a:t>IDEAS SHORTLIST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Coverage thesis hooks (not recommendations)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1F77B4"/>
                </a:solidFill>
                <a:latin typeface="Calibri"/>
              </a:rPr>
              <a:t>▪  Natera (NTRA) - MRD compounder.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0F2A43"/>
                </a:solidFill>
                <a:latin typeface="Calibri"/>
              </a:rPr>
              <a:t>   –  Cleanest pure-play on MRD; Signatera driving +36% at $2.3B; 13.2x is growth-justified. Watch: MRD reimbursement breadth.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1F77B4"/>
                </a:solidFill>
                <a:latin typeface="Calibri"/>
              </a:rPr>
              <a:t>▪  Guardant (GH) - screening-optionality anchor.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0F2A43"/>
                </a:solidFill>
                <a:latin typeface="Calibri"/>
              </a:rPr>
              <a:t>   –  ~18x for Shield blood-based CRC optionality on a 25%+ oncology base. Watch: Shield coverage + guidelines; EBITDA negative.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1F77B4"/>
                </a:solidFill>
                <a:latin typeface="Calibri"/>
              </a:rPr>
              <a:t>▪  Tempus (TEM) - data re-rate wildcard.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0F2A43"/>
                </a:solidFill>
                <a:latin typeface="Calibri"/>
              </a:rPr>
              <a:t>   –  +83% (~30% organic) yet only ~6.6x; data/Insights is the catalyst. Watch: organic growth + monetization.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1F77B4"/>
                </a:solidFill>
                <a:latin typeface="Calibri"/>
              </a:rPr>
              <a:t>▪  GeneDx (WGS) - convergence / turnaround.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0F2A43"/>
                </a:solidFill>
                <a:latin typeface="Calibri"/>
              </a:rPr>
              <a:t>   –  Exome/genome +53-55% at ~74% adj. GM, only 4.2x; room to converge. Watch: sustained growth + FY25 actuals.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F2A43"/>
                </a:solidFill>
                <a:latin typeface="Calibri"/>
              </a:rPr>
              <a:t>▪  Watch (not a hook): NeoGenomics / Fulgent - show-me / legacy; more likely consolidation targets.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555F6B"/>
                </a:solidFill>
                <a:latin typeface="Calibri"/>
              </a:rPr>
              <a:t>Diagnostics sector primer  |  BofA HC coverage prep  |  2026-06-14  |  Not investment advice  |  Sources: comps/diagnostics.csv, /companies/, /deals/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77B4"/>
                </a:solidFill>
                <a:latin typeface="Calibri"/>
              </a:rPr>
              <a:t>HOW TO DEPLOY IN A COVERAGE CONVERSATION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The one-screen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600" b="1" i="0">
                <a:solidFill>
                  <a:srgbClr val="0F2A43"/>
                </a:solidFill>
                <a:latin typeface="Calibri"/>
              </a:rPr>
              <a:t>▪  Open with the two-anchor frame: take-out ~6-7x (Abbott/EXAS) vs. screening/MRD premium (GH/NTRA) - then place each name on it in one sentence.</a:t>
            </a:r>
          </a:p>
          <a:p>
            <a:pPr>
              <a:spcAft>
                <a:spcPts val="1800"/>
              </a:spcAft>
            </a:pPr>
            <a:r>
              <a:rPr sz="1600" b="0" i="0">
                <a:solidFill>
                  <a:srgbClr val="0F2A43"/>
                </a:solidFill>
                <a:latin typeface="Calibri"/>
              </a:rPr>
              <a:t>▪  Lead your differentiated takes with TEM (cheap-vs-growth gap, data optionality) and WGS (convergence candidate) - that is where you sound like you have done the work.</a:t>
            </a:r>
          </a:p>
          <a:p>
            <a:pPr>
              <a:spcAft>
                <a:spcPts val="1800"/>
              </a:spcAft>
            </a:pPr>
            <a:r>
              <a:rPr sz="1600" b="1" i="0">
                <a:solidFill>
                  <a:srgbClr val="1F77B4"/>
                </a:solidFill>
                <a:latin typeface="Calibri"/>
              </a:rPr>
              <a:t>▪  The recurring tell is reimbursement + guidelines, not assay novelty.</a:t>
            </a:r>
          </a:p>
          <a:p>
            <a:pPr>
              <a:spcAft>
                <a:spcPts val="1800"/>
              </a:spcAft>
            </a:pPr>
            <a:r>
              <a:rPr sz="1600" b="0" i="0">
                <a:solidFill>
                  <a:srgbClr val="0F2A43"/>
                </a:solidFill>
                <a:latin typeface="Calibri"/>
              </a:rPr>
              <a:t>Open items: refresh WGS to reported FY25 actuals; add net debt to get true EV/Sales; add EV/EBITDA for EBITDA-positive names; stand up Roche/Foundation, Grail, Quest/Labcorp profiles.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555F6B"/>
                </a:solidFill>
                <a:latin typeface="Calibri"/>
              </a:rPr>
              <a:t>Diagnostics sector primer  |  BofA HC coverage prep  |  2026-06-14  |  Not investment advice  |  Sources: comps/diagnostics.csv, /companies/, /deals/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